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92" d="100"/>
          <a:sy n="92" d="100"/>
        </p:scale>
        <p:origin x="-240" y="-62"/>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764771" y="2844750"/>
            <a:ext cx="8412479" cy="588406"/>
          </a:xfrm>
          <a:ln w="12700">
            <a:solidFill>
              <a:srgbClr val="7030A0"/>
            </a:solidFill>
          </a:ln>
        </p:spPr>
        <p:txBody>
          <a:bodyPr>
            <a:normAutofit/>
          </a:bodyPr>
          <a:lstStyle/>
          <a:p>
            <a:r>
              <a:rPr lang="en-GB" sz="2400" b="1" dirty="0" smtClean="0"/>
              <a:t>Project Title</a:t>
            </a:r>
            <a:r>
              <a:rPr lang="en-GB" sz="2400" dirty="0" smtClean="0"/>
              <a:t> </a:t>
            </a:r>
            <a:r>
              <a:rPr lang="en-GB" sz="2400" b="1" dirty="0" smtClean="0"/>
              <a:t>:</a:t>
            </a:r>
            <a:r>
              <a:rPr lang="en-GB" sz="2400" dirty="0" smtClean="0"/>
              <a:t> Seasonal </a:t>
            </a:r>
            <a:r>
              <a:rPr lang="en-GB" sz="2400" dirty="0"/>
              <a:t>Agriculture Performance Analysis</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771641" y="4532091"/>
            <a:ext cx="5429654" cy="369332"/>
          </a:xfrm>
          <a:prstGeom prst="rect">
            <a:avLst/>
          </a:prstGeom>
          <a:noFill/>
          <a:ln w="12700">
            <a:solidFill>
              <a:srgbClr val="7030A0"/>
            </a:solidFill>
          </a:ln>
        </p:spPr>
        <p:txBody>
          <a:bodyPr wrap="square" rtlCol="0">
            <a:spAutoFit/>
          </a:bodyPr>
          <a:lstStyle/>
          <a:p>
            <a:r>
              <a:rPr lang="en-US" b="1" dirty="0"/>
              <a:t>AICTE STU ID : STU6a6aca966acaf1785383574</a:t>
            </a:r>
          </a:p>
        </p:txBody>
      </p:sp>
      <p:sp>
        <p:nvSpPr>
          <p:cNvPr id="11" name="TextBox 10"/>
          <p:cNvSpPr txBox="1"/>
          <p:nvPr/>
        </p:nvSpPr>
        <p:spPr>
          <a:xfrm>
            <a:off x="764771" y="3655498"/>
            <a:ext cx="7292110" cy="646331"/>
          </a:xfrm>
          <a:prstGeom prst="rect">
            <a:avLst/>
          </a:prstGeom>
          <a:noFill/>
          <a:ln w="12700">
            <a:solidFill>
              <a:srgbClr val="7030A0"/>
            </a:solidFill>
          </a:ln>
        </p:spPr>
        <p:txBody>
          <a:bodyPr wrap="square" rtlCol="0">
            <a:spAutoFit/>
          </a:bodyPr>
          <a:lstStyle/>
          <a:p>
            <a:r>
              <a:rPr lang="en-US" b="1" dirty="0" smtClean="0"/>
              <a:t>Name :</a:t>
            </a:r>
            <a:r>
              <a:rPr lang="en-US" dirty="0" smtClean="0"/>
              <a:t> </a:t>
            </a:r>
            <a:r>
              <a:rPr lang="en-US" dirty="0" err="1" smtClean="0"/>
              <a:t>Chitranjan</a:t>
            </a:r>
            <a:r>
              <a:rPr lang="en-US" dirty="0" smtClean="0"/>
              <a:t> </a:t>
            </a:r>
            <a:r>
              <a:rPr lang="en-US" dirty="0" err="1" smtClean="0"/>
              <a:t>Vishwakarma</a:t>
            </a:r>
            <a:endParaRPr lang="en-US" dirty="0" smtClean="0"/>
          </a:p>
          <a:p>
            <a:r>
              <a:rPr lang="en-US" b="1" dirty="0" smtClean="0"/>
              <a:t>College Name :</a:t>
            </a:r>
            <a:r>
              <a:rPr lang="en-US" dirty="0" smtClean="0"/>
              <a:t> Sri Ram </a:t>
            </a:r>
            <a:r>
              <a:rPr lang="en-US" dirty="0" err="1" smtClean="0"/>
              <a:t>Kishun</a:t>
            </a:r>
            <a:r>
              <a:rPr lang="en-US" dirty="0" smtClean="0"/>
              <a:t> P.G College </a:t>
            </a:r>
            <a:r>
              <a:rPr lang="en-US" dirty="0" err="1" smtClean="0"/>
              <a:t>Gokul</a:t>
            </a:r>
            <a:r>
              <a:rPr lang="en-US" dirty="0" smtClean="0"/>
              <a:t>, </a:t>
            </a:r>
            <a:r>
              <a:rPr lang="en-US" dirty="0" err="1" smtClean="0"/>
              <a:t>Karsada</a:t>
            </a:r>
            <a:r>
              <a:rPr lang="en-US" dirty="0" smtClean="0"/>
              <a:t>, Varanasi</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675957" y="2050123"/>
            <a:ext cx="6431280" cy="4225986"/>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t>
            </a:r>
            <a:endParaRPr lang="en-US" sz="2800" dirty="0" smtClean="0"/>
          </a:p>
          <a:p>
            <a:pPr>
              <a:lnSpc>
                <a:spcPct val="100000"/>
              </a:lnSpc>
            </a:pPr>
            <a:r>
              <a:rPr lang="en-US" sz="2800" dirty="0" smtClean="0"/>
              <a:t>As </a:t>
            </a:r>
            <a:r>
              <a:rPr lang="en-US" sz="2800" dirty="0"/>
              <a:t>a result, agricultural performance may differ from one season to another. However, raw agricultural data does not clearly explain how agricultural performance changes across seasons or what patterns can be observed in different seasonal conditions. </a:t>
            </a:r>
            <a:endParaRPr lang="en-US" sz="2800" dirty="0" smtClean="0"/>
          </a:p>
          <a:p>
            <a:pPr>
              <a:lnSpc>
                <a:spcPct val="100000"/>
              </a:lnSpc>
            </a:pPr>
            <a:r>
              <a:rPr lang="en-US" sz="2800" dirty="0" smtClean="0"/>
              <a:t>The </a:t>
            </a:r>
            <a:r>
              <a:rPr lang="en-US" sz="2800" dirty="0"/>
              <a:t>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874613"/>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85800" y="1957647"/>
            <a:ext cx="10607040" cy="3709477"/>
          </a:xfrm>
          <a:prstGeom prst="rect">
            <a:avLst/>
          </a:prstGeom>
          <a:noFill/>
        </p:spPr>
        <p:txBody>
          <a:bodyPr wrap="square">
            <a:spAutoFit/>
          </a:bodyPr>
          <a:lstStyle/>
          <a:p>
            <a:pPr algn="l">
              <a:lnSpc>
                <a:spcPct val="115000"/>
              </a:lnSpc>
              <a:spcAft>
                <a:spcPts val="800"/>
              </a:spcAft>
            </a:pPr>
            <a:r>
              <a:rPr sz="1700" b="0" dirty="0">
                <a:solidFill>
                  <a:srgbClr val="222A35"/>
                </a:solidFill>
              </a:rPr>
              <a:t>• This project analyzes a dataset of 4,000 farm records spanning 3 seasons (</a:t>
            </a:r>
            <a:r>
              <a:rPr sz="1700" b="0" dirty="0" err="1">
                <a:solidFill>
                  <a:srgbClr val="222A35"/>
                </a:solidFill>
              </a:rPr>
              <a:t>Kharif</a:t>
            </a:r>
            <a:r>
              <a:rPr sz="1700" b="0" dirty="0">
                <a:solidFill>
                  <a:srgbClr val="222A35"/>
                </a:solidFill>
              </a:rPr>
              <a:t>, Rabi, </a:t>
            </a:r>
            <a:r>
              <a:rPr sz="1700" b="0" dirty="0" err="1">
                <a:solidFill>
                  <a:srgbClr val="222A35"/>
                </a:solidFill>
              </a:rPr>
              <a:t>Zaid</a:t>
            </a:r>
            <a:r>
              <a:rPr sz="1700" b="0" dirty="0">
                <a:solidFill>
                  <a:srgbClr val="222A35"/>
                </a:solidFill>
              </a:rPr>
              <a:t>), 8 Indian states and 8 crops, covering environmental conditions, farming inputs, resource usage and economic outcomes.</a:t>
            </a:r>
          </a:p>
          <a:p>
            <a:pPr algn="l">
              <a:lnSpc>
                <a:spcPct val="115000"/>
              </a:lnSpc>
              <a:spcAft>
                <a:spcPts val="800"/>
              </a:spcAft>
            </a:pPr>
            <a:r>
              <a:rPr sz="1700" b="0" dirty="0">
                <a:solidFill>
                  <a:srgbClr val="222A35"/>
                </a:solidFill>
              </a:rPr>
              <a:t>• The dataset was cleaned (median imputation for missing rainfall, soil moisture and yield values, grouped by season and crop) and explored using Python (Pandas, </a:t>
            </a:r>
            <a:r>
              <a:rPr sz="1700" b="0" dirty="0" err="1">
                <a:solidFill>
                  <a:srgbClr val="222A35"/>
                </a:solidFill>
              </a:rPr>
              <a:t>NumPy</a:t>
            </a:r>
            <a:r>
              <a:rPr sz="1700" b="0" dirty="0">
                <a:solidFill>
                  <a:srgbClr val="222A35"/>
                </a:solidFill>
              </a:rPr>
              <a:t>, </a:t>
            </a:r>
            <a:r>
              <a:rPr sz="1700" b="0" dirty="0" err="1">
                <a:solidFill>
                  <a:srgbClr val="222A35"/>
                </a:solidFill>
              </a:rPr>
              <a:t>Matplotlib</a:t>
            </a:r>
            <a:r>
              <a:rPr sz="1700" b="0" dirty="0">
                <a:solidFill>
                  <a:srgbClr val="222A35"/>
                </a:solidFill>
              </a:rPr>
              <a:t>, </a:t>
            </a:r>
            <a:r>
              <a:rPr sz="1700" b="0" dirty="0" err="1">
                <a:solidFill>
                  <a:srgbClr val="222A35"/>
                </a:solidFill>
              </a:rPr>
              <a:t>Seaborn</a:t>
            </a:r>
            <a:r>
              <a:rPr sz="1700" b="0" dirty="0">
                <a:solidFill>
                  <a:srgbClr val="222A35"/>
                </a:solidFill>
              </a:rPr>
              <a:t>, </a:t>
            </a:r>
            <a:r>
              <a:rPr sz="1700" b="0" dirty="0" err="1">
                <a:solidFill>
                  <a:srgbClr val="222A35"/>
                </a:solidFill>
              </a:rPr>
              <a:t>SciPy</a:t>
            </a:r>
            <a:r>
              <a:rPr sz="1700" b="0" dirty="0">
                <a:solidFill>
                  <a:srgbClr val="222A35"/>
                </a:solidFill>
              </a:rPr>
              <a:t>) inside a </a:t>
            </a:r>
            <a:r>
              <a:rPr lang="en-US" sz="1700" dirty="0" smtClean="0">
                <a:solidFill>
                  <a:srgbClr val="222A35"/>
                </a:solidFill>
              </a:rPr>
              <a:t>VS Code</a:t>
            </a:r>
            <a:r>
              <a:rPr sz="1700" b="0" dirty="0" smtClean="0">
                <a:solidFill>
                  <a:srgbClr val="222A35"/>
                </a:solidFill>
              </a:rPr>
              <a:t>.</a:t>
            </a:r>
            <a:endParaRPr sz="1700" b="0" dirty="0">
              <a:solidFill>
                <a:srgbClr val="222A35"/>
              </a:solidFill>
            </a:endParaRPr>
          </a:p>
          <a:p>
            <a:pPr algn="l">
              <a:lnSpc>
                <a:spcPct val="115000"/>
              </a:lnSpc>
              <a:spcAft>
                <a:spcPts val="800"/>
              </a:spcAft>
            </a:pPr>
            <a:r>
              <a:rPr sz="1700" b="0" dirty="0">
                <a:solidFill>
                  <a:srgbClr val="222A35"/>
                </a:solidFill>
              </a:rPr>
              <a:t>• The analysis compares seasons on yield, cost, revenue, profit, water/fertilizer usage and disease risk; tests whether yield differences across seasons are statistically </a:t>
            </a:r>
            <a:r>
              <a:rPr sz="1700" b="0" dirty="0" smtClean="0">
                <a:solidFill>
                  <a:srgbClr val="222A35"/>
                </a:solidFill>
              </a:rPr>
              <a:t>significant</a:t>
            </a:r>
            <a:r>
              <a:rPr lang="en-US" sz="1700" b="0" dirty="0" smtClean="0">
                <a:solidFill>
                  <a:srgbClr val="222A35"/>
                </a:solidFill>
              </a:rPr>
              <a:t> </a:t>
            </a:r>
            <a:r>
              <a:rPr sz="1700" b="0" dirty="0" smtClean="0">
                <a:solidFill>
                  <a:srgbClr val="222A35"/>
                </a:solidFill>
              </a:rPr>
              <a:t>and </a:t>
            </a:r>
            <a:r>
              <a:rPr sz="1700" b="0" dirty="0">
                <a:solidFill>
                  <a:srgbClr val="222A35"/>
                </a:solidFill>
              </a:rPr>
              <a:t>examines correlations between environmental/input factors and outcomes.</a:t>
            </a:r>
          </a:p>
          <a:p>
            <a:pPr algn="l">
              <a:lnSpc>
                <a:spcPct val="115000"/>
              </a:lnSpc>
              <a:spcAft>
                <a:spcPts val="800"/>
              </a:spcAft>
            </a:pPr>
            <a:r>
              <a:rPr sz="1700" b="0" dirty="0">
                <a:solidFill>
                  <a:srgbClr val="222A35"/>
                </a:solidFill>
              </a:rPr>
              <a:t>• The goal is to convert raw agricultural data into clear, evidence-based insights and recommendations that can support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wrap="square">
            <a:normAutofit fontScale="92500" lnSpcReduction="20000"/>
          </a:bodyPr>
          <a:lstStyle/>
          <a:p>
            <a:pPr algn="l">
              <a:lnSpc>
                <a:spcPct val="125000"/>
              </a:lnSpc>
              <a:spcAft>
                <a:spcPts val="800"/>
              </a:spcAft>
            </a:pPr>
            <a:r>
              <a:rPr sz="1900" b="0" dirty="0">
                <a:solidFill>
                  <a:srgbClr val="222A35"/>
                </a:solidFill>
              </a:rPr>
              <a:t>Farmers &amp; agricultural cooperatives — choosing crops and irrigation methods by season</a:t>
            </a:r>
            <a:endParaRPr lang="en-IN" sz="3600" dirty="0"/>
          </a:p>
          <a:p>
            <a:pPr algn="l">
              <a:lnSpc>
                <a:spcPct val="125000"/>
              </a:lnSpc>
              <a:spcAft>
                <a:spcPts val="800"/>
              </a:spcAft>
            </a:pPr>
            <a:r>
              <a:rPr sz="1900" b="0" dirty="0">
                <a:solidFill>
                  <a:srgbClr val="222A35"/>
                </a:solidFill>
              </a:rPr>
              <a:t>Agricultural policy makers &amp; government departments — evidence-based seasonal planning</a:t>
            </a:r>
          </a:p>
          <a:p>
            <a:pPr algn="l">
              <a:lnSpc>
                <a:spcPct val="125000"/>
              </a:lnSpc>
              <a:spcAft>
                <a:spcPts val="800"/>
              </a:spcAft>
            </a:pPr>
            <a:r>
              <a:rPr sz="1900" b="0" dirty="0" err="1">
                <a:solidFill>
                  <a:srgbClr val="222A35"/>
                </a:solidFill>
              </a:rPr>
              <a:t>Agri</a:t>
            </a:r>
            <a:r>
              <a:rPr sz="1900" b="0" dirty="0">
                <a:solidFill>
                  <a:srgbClr val="222A35"/>
                </a:solidFill>
              </a:rPr>
              <a:t>-input and agribusiness companies — understanding seasonal demand for fertilizer, seed and irrigation equipment</a:t>
            </a:r>
          </a:p>
          <a:p>
            <a:pPr algn="l">
              <a:lnSpc>
                <a:spcPct val="125000"/>
              </a:lnSpc>
              <a:spcAft>
                <a:spcPts val="800"/>
              </a:spcAft>
            </a:pPr>
            <a:r>
              <a:rPr sz="1900" b="0" dirty="0">
                <a:solidFill>
                  <a:srgbClr val="222A35"/>
                </a:solidFill>
              </a:rPr>
              <a:t>Financial institutions &amp; crop insurers — assessing seasonal profitability and risk</a:t>
            </a:r>
          </a:p>
          <a:p>
            <a:pPr algn="l">
              <a:lnSpc>
                <a:spcPct val="125000"/>
              </a:lnSpc>
              <a:spcAft>
                <a:spcPts val="800"/>
              </a:spcAft>
            </a:pPr>
            <a:r>
              <a:rPr sz="1900" b="0" dirty="0">
                <a:solidFill>
                  <a:srgbClr val="222A35"/>
                </a:solidFill>
              </a:rPr>
              <a:t>Agricultural researchers &amp; extension officers — studying seasonal yield and resource </a:t>
            </a:r>
            <a:r>
              <a:rPr sz="1900" b="0" dirty="0" smtClean="0">
                <a:solidFill>
                  <a:srgbClr val="222A35"/>
                </a:solidFill>
              </a:rPr>
              <a:t>patterns</a:t>
            </a:r>
            <a:endParaRPr sz="1900" b="0" dirty="0">
              <a:solidFill>
                <a:srgbClr val="222A35"/>
              </a:solidFill>
            </a:endParaRPr>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698270" y="1687484"/>
            <a:ext cx="8337664" cy="4851364"/>
          </a:xfrm>
        </p:spPr>
        <p:txBody>
          <a:bodyPr wrap="square"/>
          <a:lstStyle/>
          <a:p>
            <a:pPr lvl="1">
              <a:lnSpc>
                <a:spcPct val="110000"/>
              </a:lnSpc>
              <a:spcAft>
                <a:spcPts val="800"/>
              </a:spcAft>
            </a:pPr>
            <a:r>
              <a:rPr sz="1800" b="1" dirty="0">
                <a:solidFill>
                  <a:srgbClr val="222A35"/>
                </a:solidFill>
              </a:rPr>
              <a:t>Python 3 — programming language</a:t>
            </a:r>
            <a:endParaRPr lang="en-IN" dirty="0"/>
          </a:p>
          <a:p>
            <a:pPr algn="l">
              <a:lnSpc>
                <a:spcPct val="110000"/>
              </a:lnSpc>
              <a:spcAft>
                <a:spcPts val="800"/>
              </a:spcAft>
            </a:pPr>
            <a:r>
              <a:rPr lang="en-US" sz="1800" dirty="0" smtClean="0">
                <a:solidFill>
                  <a:srgbClr val="222A35"/>
                </a:solidFill>
              </a:rPr>
              <a:t>VS Code</a:t>
            </a:r>
            <a:r>
              <a:rPr sz="1800" b="0" dirty="0" smtClean="0">
                <a:solidFill>
                  <a:srgbClr val="222A35"/>
                </a:solidFill>
              </a:rPr>
              <a:t> </a:t>
            </a:r>
            <a:r>
              <a:rPr sz="1800" b="0" dirty="0">
                <a:solidFill>
                  <a:srgbClr val="222A35"/>
                </a:solidFill>
              </a:rPr>
              <a:t>— analysis environment</a:t>
            </a:r>
          </a:p>
          <a:p>
            <a:pPr algn="l">
              <a:lnSpc>
                <a:spcPct val="110000"/>
              </a:lnSpc>
              <a:spcAft>
                <a:spcPts val="800"/>
              </a:spcAft>
            </a:pPr>
            <a:r>
              <a:rPr sz="1800" b="0" dirty="0">
                <a:solidFill>
                  <a:srgbClr val="222A35"/>
                </a:solidFill>
              </a:rPr>
              <a:t>Pandas &amp; </a:t>
            </a:r>
            <a:r>
              <a:rPr sz="1800" b="0" dirty="0" err="1">
                <a:solidFill>
                  <a:srgbClr val="222A35"/>
                </a:solidFill>
              </a:rPr>
              <a:t>NumPy</a:t>
            </a:r>
            <a:r>
              <a:rPr sz="1800" b="0" dirty="0">
                <a:solidFill>
                  <a:srgbClr val="222A35"/>
                </a:solidFill>
              </a:rPr>
              <a:t> — data cleaning &amp; aggregation</a:t>
            </a:r>
          </a:p>
          <a:p>
            <a:pPr algn="l">
              <a:lnSpc>
                <a:spcPct val="110000"/>
              </a:lnSpc>
              <a:spcAft>
                <a:spcPts val="800"/>
              </a:spcAft>
            </a:pPr>
            <a:r>
              <a:rPr sz="1800" b="0" dirty="0" err="1">
                <a:solidFill>
                  <a:srgbClr val="222A35"/>
                </a:solidFill>
              </a:rPr>
              <a:t>Matplotlib</a:t>
            </a:r>
            <a:r>
              <a:rPr sz="1800" b="0" dirty="0">
                <a:solidFill>
                  <a:srgbClr val="222A35"/>
                </a:solidFill>
              </a:rPr>
              <a:t>, </a:t>
            </a:r>
            <a:r>
              <a:rPr sz="1800" b="0" dirty="0" err="1">
                <a:solidFill>
                  <a:srgbClr val="222A35"/>
                </a:solidFill>
              </a:rPr>
              <a:t>Seaborn</a:t>
            </a:r>
            <a:r>
              <a:rPr sz="1800" b="0" dirty="0">
                <a:solidFill>
                  <a:srgbClr val="222A35"/>
                </a:solidFill>
              </a:rPr>
              <a:t> &amp; </a:t>
            </a:r>
            <a:r>
              <a:rPr sz="1800" b="0" dirty="0" err="1">
                <a:solidFill>
                  <a:srgbClr val="222A35"/>
                </a:solidFill>
              </a:rPr>
              <a:t>SciPy</a:t>
            </a:r>
            <a:r>
              <a:rPr sz="1800" b="0" dirty="0">
                <a:solidFill>
                  <a:srgbClr val="222A35"/>
                </a:solidFill>
              </a:rPr>
              <a:t> — visualization </a:t>
            </a:r>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26" name="Picture 25" descr="chart_01_season_crop_distribution.png"/>
          <p:cNvPicPr>
            <a:picLocks noChangeAspect="1"/>
          </p:cNvPicPr>
          <p:nvPr/>
        </p:nvPicPr>
        <p:blipFill>
          <a:blip r:embed="rId3"/>
          <a:stretch>
            <a:fillRect/>
          </a:stretch>
        </p:blipFill>
        <p:spPr>
          <a:xfrm>
            <a:off x="448888" y="1471353"/>
            <a:ext cx="9434946" cy="4705003"/>
          </a:xfrm>
          <a:prstGeom prst="rect">
            <a:avLst/>
          </a:prstGeom>
          <a:ln w="12700">
            <a:solidFill>
              <a:schemeClr val="tx1"/>
            </a:solidFill>
          </a:ln>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33" name="Picture 32" descr="chart_03_yield_production_by_season.png"/>
          <p:cNvPicPr>
            <a:picLocks noChangeAspect="1"/>
          </p:cNvPicPr>
          <p:nvPr/>
        </p:nvPicPr>
        <p:blipFill>
          <a:blip r:embed="rId3"/>
          <a:stretch>
            <a:fillRect/>
          </a:stretch>
        </p:blipFill>
        <p:spPr>
          <a:xfrm>
            <a:off x="448888" y="1508760"/>
            <a:ext cx="8861368" cy="4160520"/>
          </a:xfrm>
          <a:prstGeom prst="rect">
            <a:avLst/>
          </a:prstGeom>
          <a:ln w="12700">
            <a:solidFill>
              <a:schemeClr val="tx1"/>
            </a:solidFill>
          </a:ln>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33" name="Picture 32" descr="chart_04_economics_by_season.png"/>
          <p:cNvPicPr>
            <a:picLocks noChangeAspect="1"/>
          </p:cNvPicPr>
          <p:nvPr/>
        </p:nvPicPr>
        <p:blipFill>
          <a:blip r:embed="rId3"/>
          <a:stretch>
            <a:fillRect/>
          </a:stretch>
        </p:blipFill>
        <p:spPr>
          <a:xfrm>
            <a:off x="775709" y="1458884"/>
            <a:ext cx="8492981" cy="4160520"/>
          </a:xfrm>
          <a:prstGeom prst="rect">
            <a:avLst/>
          </a:prstGeom>
          <a:ln w="12700">
            <a:solidFill>
              <a:schemeClr val="tx1"/>
            </a:solidFill>
          </a:ln>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33" name="Picture 32" descr="chart_06_irrigation_by_season.png"/>
          <p:cNvPicPr>
            <a:picLocks noChangeAspect="1"/>
          </p:cNvPicPr>
          <p:nvPr/>
        </p:nvPicPr>
        <p:blipFill>
          <a:blip r:embed="rId3"/>
          <a:stretch>
            <a:fillRect/>
          </a:stretch>
        </p:blipFill>
        <p:spPr>
          <a:xfrm>
            <a:off x="777240" y="2407920"/>
            <a:ext cx="8358447" cy="4160520"/>
          </a:xfrm>
          <a:prstGeom prst="rect">
            <a:avLst/>
          </a:prstGeom>
          <a:ln w="12700">
            <a:solidFill>
              <a:schemeClr val="tx1"/>
            </a:solidFill>
          </a:ln>
        </p:spPr>
      </p:pic>
      <p:pic>
        <p:nvPicPr>
          <p:cNvPr id="34" name="Picture 33" descr="code_shot_irrigation.png"/>
          <p:cNvPicPr>
            <a:picLocks noChangeAspect="1"/>
          </p:cNvPicPr>
          <p:nvPr/>
        </p:nvPicPr>
        <p:blipFill>
          <a:blip r:embed="rId4"/>
          <a:stretch>
            <a:fillRect/>
          </a:stretch>
        </p:blipFill>
        <p:spPr>
          <a:xfrm>
            <a:off x="777240" y="1155470"/>
            <a:ext cx="5394960" cy="1117527"/>
          </a:xfrm>
          <a:prstGeom prst="rect">
            <a:avLst/>
          </a:prstGeom>
          <a:ln w="12700">
            <a:solidFill>
              <a:srgbClr val="FFFF00"/>
            </a:solidFill>
          </a:ln>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33" name="Picture 32" descr="chart_07_correlation_heatmap.png"/>
          <p:cNvPicPr>
            <a:picLocks noChangeAspect="1"/>
          </p:cNvPicPr>
          <p:nvPr/>
        </p:nvPicPr>
        <p:blipFill>
          <a:blip r:embed="rId3"/>
          <a:stretch>
            <a:fillRect/>
          </a:stretch>
        </p:blipFill>
        <p:spPr>
          <a:xfrm>
            <a:off x="789708" y="1325880"/>
            <a:ext cx="8345979" cy="4480560"/>
          </a:xfrm>
          <a:prstGeom prst="rect">
            <a:avLst/>
          </a:prstGeom>
          <a:ln w="12700">
            <a:solidFill>
              <a:schemeClr val="tx1"/>
            </a:solidFill>
          </a:ln>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808961" y="1127047"/>
            <a:ext cx="4735798" cy="830997"/>
          </a:xfrm>
        </p:spPr>
        <p:txBody>
          <a:bodyPr>
            <a:normAutofit/>
          </a:bodyPr>
          <a:lstStyle/>
          <a:p>
            <a:r>
              <a:rPr lang="en-IN" sz="4000" dirty="0"/>
              <a:t>Future scope</a:t>
            </a:r>
          </a:p>
        </p:txBody>
      </p:sp>
      <p:sp>
        <p:nvSpPr>
          <p:cNvPr id="26" name="TextBox 25"/>
          <p:cNvSpPr txBox="1"/>
          <p:nvPr/>
        </p:nvSpPr>
        <p:spPr>
          <a:xfrm>
            <a:off x="685800" y="2286000"/>
            <a:ext cx="10607040" cy="3566160"/>
          </a:xfrm>
          <a:prstGeom prst="rect">
            <a:avLst/>
          </a:prstGeom>
          <a:noFill/>
        </p:spPr>
        <p:txBody>
          <a:bodyPr wrap="square">
            <a:spAutoFit/>
          </a:bodyPr>
          <a:lstStyle/>
          <a:p>
            <a:pPr algn="l">
              <a:lnSpc>
                <a:spcPct val="115000"/>
              </a:lnSpc>
              <a:spcAft>
                <a:spcPts val="800"/>
              </a:spcAft>
            </a:pPr>
            <a:r>
              <a:rPr sz="1700" b="0" dirty="0">
                <a:solidFill>
                  <a:srgbClr val="222A35"/>
                </a:solidFill>
              </a:rPr>
              <a:t>• Build a machine learning model to predict yield and profit from seasonal and input variables</a:t>
            </a:r>
          </a:p>
          <a:p>
            <a:pPr algn="l">
              <a:lnSpc>
                <a:spcPct val="115000"/>
              </a:lnSpc>
              <a:spcAft>
                <a:spcPts val="800"/>
              </a:spcAft>
            </a:pPr>
            <a:r>
              <a:rPr sz="1700" b="0" dirty="0">
                <a:solidFill>
                  <a:srgbClr val="222A35"/>
                </a:solidFill>
              </a:rPr>
              <a:t>• Integrate live weather and soil-sensor (</a:t>
            </a:r>
            <a:r>
              <a:rPr sz="1700" b="0" dirty="0" err="1">
                <a:solidFill>
                  <a:srgbClr val="222A35"/>
                </a:solidFill>
              </a:rPr>
              <a:t>IoT</a:t>
            </a:r>
            <a:r>
              <a:rPr sz="1700" b="0" dirty="0">
                <a:solidFill>
                  <a:srgbClr val="222A35"/>
                </a:solidFill>
              </a:rPr>
              <a:t>) data for real-time seasonal recommendations</a:t>
            </a:r>
          </a:p>
          <a:p>
            <a:pPr algn="l">
              <a:lnSpc>
                <a:spcPct val="115000"/>
              </a:lnSpc>
              <a:spcAft>
                <a:spcPts val="800"/>
              </a:spcAft>
            </a:pPr>
            <a:r>
              <a:rPr sz="1700" b="0" dirty="0">
                <a:solidFill>
                  <a:srgbClr val="222A35"/>
                </a:solidFill>
              </a:rPr>
              <a:t>• Extend the analysis with more granular location data (village/block level) instead of state level</a:t>
            </a:r>
          </a:p>
          <a:p>
            <a:pPr algn="l">
              <a:lnSpc>
                <a:spcPct val="115000"/>
              </a:lnSpc>
              <a:spcAft>
                <a:spcPts val="800"/>
              </a:spcAft>
            </a:pPr>
            <a:r>
              <a:rPr sz="1700" b="0" dirty="0">
                <a:solidFill>
                  <a:srgbClr val="222A35"/>
                </a:solidFill>
              </a:rPr>
              <a:t>• Add a farmer-facing dashboard for personalized, season-specific crop and irrigation guidance</a:t>
            </a:r>
          </a:p>
          <a:p>
            <a:pPr algn="l">
              <a:lnSpc>
                <a:spcPct val="115000"/>
              </a:lnSpc>
              <a:spcAft>
                <a:spcPts val="800"/>
              </a:spcAft>
            </a:pPr>
            <a:r>
              <a:rPr sz="1700" b="0" dirty="0">
                <a:solidFill>
                  <a:srgbClr val="222A35"/>
                </a:solidFill>
              </a:rPr>
              <a:t>• Study the root causes of the high loss-making percentage using cost-breakdown data</a:t>
            </a:r>
          </a:p>
          <a:p>
            <a:pPr algn="l">
              <a:lnSpc>
                <a:spcPct val="115000"/>
              </a:lnSpc>
              <a:spcAft>
                <a:spcPts val="800"/>
              </a:spcAft>
            </a:pPr>
            <a:r>
              <a:rPr sz="1700" b="0" dirty="0">
                <a:solidFill>
                  <a:srgbClr val="222A35"/>
                </a:solidFill>
              </a:rPr>
              <a:t>• Incorporate market-demand forecasting to better time seasonal crop choices</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739833" y="993544"/>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p:cNvSpPr txBox="1"/>
          <p:nvPr/>
        </p:nvSpPr>
        <p:spPr>
          <a:xfrm>
            <a:off x="739833" y="2169621"/>
            <a:ext cx="8686800" cy="369332"/>
          </a:xfrm>
          <a:prstGeom prst="rect">
            <a:avLst/>
          </a:prstGeom>
          <a:noFill/>
          <a:ln w="12700">
            <a:solidFill>
              <a:srgbClr val="00B0F0"/>
            </a:solidFill>
          </a:ln>
        </p:spPr>
        <p:txBody>
          <a:bodyPr wrap="square" rtlCol="0">
            <a:spAutoFit/>
          </a:bodyPr>
          <a:lstStyle/>
          <a:p>
            <a:r>
              <a:rPr lang="en-IN" u="sng" dirty="0"/>
              <a:t>https://chitranjan-7-8-6.github.io/Seasonal-Agriculture-Performance-Analysis/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2" name="Rectangle 1"/>
          <p:cNvSpPr/>
          <p:nvPr/>
        </p:nvSpPr>
        <p:spPr>
          <a:xfrm>
            <a:off x="675957" y="1562793"/>
            <a:ext cx="8254538" cy="4638502"/>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28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1459</TotalTime>
  <Words>469</Words>
  <Application>Microsoft Office PowerPoint</Application>
  <PresentationFormat>Custom</PresentationFormat>
  <Paragraphs>43</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Neeraj Patel</cp:lastModifiedBy>
  <cp:revision>107</cp:revision>
  <dcterms:created xsi:type="dcterms:W3CDTF">2021-07-11T13:13:15Z</dcterms:created>
  <dcterms:modified xsi:type="dcterms:W3CDTF">2026-09-04T08:04:03Z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